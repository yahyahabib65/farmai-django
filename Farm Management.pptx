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2" r:id="rId5"/>
    <p:sldId id="265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98ED3-994F-9D2E-6B97-ED285C66975F}" v="102" dt="2025-12-30T12:13:58.0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hya  Habib" userId="S::24280001@lums.edu.pk::9f10a378-ecba-470a-a1a0-cea717343985" providerId="AD" clId="Web-{32E98ED3-994F-9D2E-6B97-ED285C66975F}"/>
    <pc:docChg chg="addSld modSld">
      <pc:chgData name="Yahya  Habib" userId="S::24280001@lums.edu.pk::9f10a378-ecba-470a-a1a0-cea717343985" providerId="AD" clId="Web-{32E98ED3-994F-9D2E-6B97-ED285C66975F}" dt="2025-12-30T12:13:58.011" v="97"/>
      <pc:docMkLst>
        <pc:docMk/>
      </pc:docMkLst>
      <pc:sldChg chg="modSp">
        <pc:chgData name="Yahya  Habib" userId="S::24280001@lums.edu.pk::9f10a378-ecba-470a-a1a0-cea717343985" providerId="AD" clId="Web-{32E98ED3-994F-9D2E-6B97-ED285C66975F}" dt="2025-12-30T12:12:03.790" v="47"/>
        <pc:sldMkLst>
          <pc:docMk/>
          <pc:sldMk cId="3701666284" sldId="262"/>
        </pc:sldMkLst>
        <pc:graphicFrameChg chg="mod modGraphic">
          <ac:chgData name="Yahya  Habib" userId="S::24280001@lums.edu.pk::9f10a378-ecba-470a-a1a0-cea717343985" providerId="AD" clId="Web-{32E98ED3-994F-9D2E-6B97-ED285C66975F}" dt="2025-12-30T12:12:03.790" v="47"/>
          <ac:graphicFrameMkLst>
            <pc:docMk/>
            <pc:sldMk cId="3701666284" sldId="262"/>
            <ac:graphicFrameMk id="5" creationId="{103400C8-50DA-F9DD-D714-8C077FA6B1AA}"/>
          </ac:graphicFrameMkLst>
        </pc:graphicFrameChg>
      </pc:sldChg>
      <pc:sldChg chg="modSp">
        <pc:chgData name="Yahya  Habib" userId="S::24280001@lums.edu.pk::9f10a378-ecba-470a-a1a0-cea717343985" providerId="AD" clId="Web-{32E98ED3-994F-9D2E-6B97-ED285C66975F}" dt="2025-12-30T12:13:07.775" v="96" actId="20577"/>
        <pc:sldMkLst>
          <pc:docMk/>
          <pc:sldMk cId="88619215" sldId="263"/>
        </pc:sldMkLst>
        <pc:spChg chg="mod">
          <ac:chgData name="Yahya  Habib" userId="S::24280001@lums.edu.pk::9f10a378-ecba-470a-a1a0-cea717343985" providerId="AD" clId="Web-{32E98ED3-994F-9D2E-6B97-ED285C66975F}" dt="2025-12-30T12:13:07.775" v="96" actId="20577"/>
          <ac:spMkLst>
            <pc:docMk/>
            <pc:sldMk cId="88619215" sldId="263"/>
            <ac:spMk id="3" creationId="{DDE465B8-1448-52E9-34D6-570911892772}"/>
          </ac:spMkLst>
        </pc:spChg>
      </pc:sldChg>
      <pc:sldChg chg="new">
        <pc:chgData name="Yahya  Habib" userId="S::24280001@lums.edu.pk::9f10a378-ecba-470a-a1a0-cea717343985" providerId="AD" clId="Web-{32E98ED3-994F-9D2E-6B97-ED285C66975F}" dt="2025-12-30T12:13:58.011" v="97"/>
        <pc:sldMkLst>
          <pc:docMk/>
          <pc:sldMk cId="3767368212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2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2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123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5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3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6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1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3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89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39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Aerial view of farming land with country roads">
            <a:extLst>
              <a:ext uri="{FF2B5EF4-FFF2-40B4-BE49-F238E27FC236}">
                <a16:creationId xmlns:a16="http://schemas.microsoft.com/office/drawing/2014/main" id="{26A533A1-E617-4BDD-0F64-C34A0A8C10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89" r="9085" b="7383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Configuring an Open-Source AI Model for Real-World Farm Analytics</a:t>
            </a:r>
            <a:endParaRPr lang="en-US" sz="5100" b="1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</a:rPr>
              <a:t>By:</a:t>
            </a:r>
            <a:r>
              <a:rPr lang="en-US" sz="1300">
                <a:solidFill>
                  <a:srgbClr val="FFFFFF"/>
                </a:solidFill>
              </a:rPr>
              <a:t> Yahya Habib</a:t>
            </a:r>
          </a:p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</a:rPr>
              <a:t>Supervisors:</a:t>
            </a:r>
            <a:r>
              <a:rPr lang="en-US" sz="1300">
                <a:solidFill>
                  <a:srgbClr val="FFFFFF"/>
                </a:solidFill>
              </a:rPr>
              <a:t> Hassan Jaleel, Abubakr Muhammad</a:t>
            </a:r>
          </a:p>
          <a:p>
            <a:pPr>
              <a:lnSpc>
                <a:spcPct val="120000"/>
              </a:lnSpc>
            </a:pPr>
            <a:endParaRPr lang="en-US" sz="130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391A-8950-F2A6-49A6-D53F8260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A90A-8317-0114-5FD1-B4285AD10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ea typeface="+mn-lt"/>
                <a:cs typeface="+mn-lt"/>
              </a:rPr>
              <a:t>Agriculture in Pakistan faces critical challenges such as </a:t>
            </a:r>
          </a:p>
          <a:p>
            <a:r>
              <a:rPr lang="en-US" dirty="0">
                <a:ea typeface="+mn-lt"/>
                <a:cs typeface="+mn-lt"/>
              </a:rPr>
              <a:t>Water scarcity </a:t>
            </a:r>
          </a:p>
          <a:p>
            <a:r>
              <a:rPr lang="en-US" dirty="0">
                <a:ea typeface="+mn-lt"/>
                <a:cs typeface="+mn-lt"/>
              </a:rPr>
              <a:t>Inefficient resource utilization</a:t>
            </a:r>
          </a:p>
          <a:p>
            <a:r>
              <a:rPr lang="en-US" dirty="0">
                <a:ea typeface="+mn-lt"/>
                <a:cs typeface="+mn-lt"/>
              </a:rPr>
              <a:t>Yield variability</a:t>
            </a:r>
          </a:p>
          <a:p>
            <a:r>
              <a:rPr lang="en-US"/>
              <a:t>Higher Costs</a:t>
            </a:r>
            <a:endParaRPr lang="en-US" dirty="0"/>
          </a:p>
          <a:p>
            <a:r>
              <a:rPr lang="en-US" dirty="0"/>
              <a:t>Less Revenue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7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B750F-E866-BFC5-4396-687CF55C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EAD58-2D12-A04A-0974-837B7C48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Build a Sustainable framework that Allows Farmers to:</a:t>
            </a:r>
          </a:p>
          <a:p>
            <a:r>
              <a:rPr lang="en-US"/>
              <a:t>Make Meaningful Decisions</a:t>
            </a:r>
          </a:p>
          <a:p>
            <a:r>
              <a:rPr lang="en-US"/>
              <a:t>Adopt to Sustainable practices</a:t>
            </a:r>
          </a:p>
          <a:p>
            <a:r>
              <a:rPr lang="en-US"/>
              <a:t>Maximize yield</a:t>
            </a:r>
          </a:p>
          <a:p>
            <a:r>
              <a:rPr lang="en-US"/>
              <a:t>Leverage the use of AI to act Proactively utilize farming efficiently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9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2E2E-D6D4-9B8E-10A8-6507DDAA8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62" y="1170518"/>
            <a:ext cx="10890929" cy="1097280"/>
          </a:xfrm>
        </p:spPr>
        <p:txBody>
          <a:bodyPr/>
          <a:lstStyle/>
          <a:p>
            <a:r>
              <a:rPr lang="en-US" dirty="0"/>
              <a:t>Proposed Tools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03400C8-50DA-F9DD-D714-8C077FA6B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599926"/>
              </p:ext>
            </p:extLst>
          </p:nvPr>
        </p:nvGraphicFramePr>
        <p:xfrm>
          <a:off x="127000" y="2006297"/>
          <a:ext cx="11930897" cy="54146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4756">
                  <a:extLst>
                    <a:ext uri="{9D8B030D-6E8A-4147-A177-3AD203B41FA5}">
                      <a16:colId xmlns:a16="http://schemas.microsoft.com/office/drawing/2014/main" val="893746928"/>
                    </a:ext>
                  </a:extLst>
                </a:gridCol>
                <a:gridCol w="794740">
                  <a:extLst>
                    <a:ext uri="{9D8B030D-6E8A-4147-A177-3AD203B41FA5}">
                      <a16:colId xmlns:a16="http://schemas.microsoft.com/office/drawing/2014/main" val="4240599209"/>
                    </a:ext>
                  </a:extLst>
                </a:gridCol>
                <a:gridCol w="649036">
                  <a:extLst>
                    <a:ext uri="{9D8B030D-6E8A-4147-A177-3AD203B41FA5}">
                      <a16:colId xmlns:a16="http://schemas.microsoft.com/office/drawing/2014/main" val="4003698646"/>
                    </a:ext>
                  </a:extLst>
                </a:gridCol>
                <a:gridCol w="966930">
                  <a:extLst>
                    <a:ext uri="{9D8B030D-6E8A-4147-A177-3AD203B41FA5}">
                      <a16:colId xmlns:a16="http://schemas.microsoft.com/office/drawing/2014/main" val="4163173963"/>
                    </a:ext>
                  </a:extLst>
                </a:gridCol>
                <a:gridCol w="980724">
                  <a:extLst>
                    <a:ext uri="{9D8B030D-6E8A-4147-A177-3AD203B41FA5}">
                      <a16:colId xmlns:a16="http://schemas.microsoft.com/office/drawing/2014/main" val="2557670820"/>
                    </a:ext>
                  </a:extLst>
                </a:gridCol>
                <a:gridCol w="1413770">
                  <a:extLst>
                    <a:ext uri="{9D8B030D-6E8A-4147-A177-3AD203B41FA5}">
                      <a16:colId xmlns:a16="http://schemas.microsoft.com/office/drawing/2014/main" val="1368982046"/>
                    </a:ext>
                  </a:extLst>
                </a:gridCol>
                <a:gridCol w="547672">
                  <a:extLst>
                    <a:ext uri="{9D8B030D-6E8A-4147-A177-3AD203B41FA5}">
                      <a16:colId xmlns:a16="http://schemas.microsoft.com/office/drawing/2014/main" val="177378654"/>
                    </a:ext>
                  </a:extLst>
                </a:gridCol>
                <a:gridCol w="1018931">
                  <a:extLst>
                    <a:ext uri="{9D8B030D-6E8A-4147-A177-3AD203B41FA5}">
                      <a16:colId xmlns:a16="http://schemas.microsoft.com/office/drawing/2014/main" val="898298705"/>
                    </a:ext>
                  </a:extLst>
                </a:gridCol>
                <a:gridCol w="878830">
                  <a:extLst>
                    <a:ext uri="{9D8B030D-6E8A-4147-A177-3AD203B41FA5}">
                      <a16:colId xmlns:a16="http://schemas.microsoft.com/office/drawing/2014/main" val="4161465045"/>
                    </a:ext>
                  </a:extLst>
                </a:gridCol>
                <a:gridCol w="1327754">
                  <a:extLst>
                    <a:ext uri="{9D8B030D-6E8A-4147-A177-3AD203B41FA5}">
                      <a16:colId xmlns:a16="http://schemas.microsoft.com/office/drawing/2014/main" val="3571499754"/>
                    </a:ext>
                  </a:extLst>
                </a:gridCol>
                <a:gridCol w="1327754">
                  <a:extLst>
                    <a:ext uri="{9D8B030D-6E8A-4147-A177-3AD203B41FA5}">
                      <a16:colId xmlns:a16="http://schemas.microsoft.com/office/drawing/2014/main" val="1118051839"/>
                    </a:ext>
                  </a:extLst>
                </a:gridCol>
              </a:tblGrid>
              <a:tr h="77739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Tool / Goal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Human Input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IoT Input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Drone 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Image Support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AI-based 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Analytics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Customization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Free</a:t>
                      </a: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Scalability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Support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URL</a:t>
                      </a:r>
                    </a:p>
                  </a:txBody>
                  <a:tcPr marL="60770" marR="60770" marT="30385" marB="303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A5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Grandview Display"/>
                        </a:rPr>
                        <a:t>Pricing</a:t>
                      </a:r>
                    </a:p>
                  </a:txBody>
                  <a:tcPr marL="60769" marR="60769" marT="30384" marB="30384" anchor="ctr">
                    <a:lnL w="12700">
                      <a:solidFill>
                        <a:srgbClr val="FFFFFF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E5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833084"/>
                  </a:ext>
                </a:extLst>
              </a:tr>
              <a:tr h="38211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FarmOS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 5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1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farmos.org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Free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69" marR="60769" marT="30384" marB="30384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23279"/>
                  </a:ext>
                </a:extLst>
              </a:tr>
              <a:tr h="55340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Azure Data Manager for Agriculture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</a:rPr>
                        <a:t>Microsoft.com</a:t>
                      </a:r>
                    </a:p>
                  </a:txBody>
                  <a:tcPr marL="60770" marR="60770" marT="30385" marB="30385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effectLst/>
                        </a:rPr>
                        <a:t>GBP 625 per unit per day</a:t>
                      </a:r>
                    </a:p>
                  </a:txBody>
                  <a:tcPr marL="60769" marR="60769" marT="30384" marB="30384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180729"/>
                  </a:ext>
                </a:extLst>
              </a:tr>
              <a:tr h="38211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err="1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GeoPard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 Agriculture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err="1">
                          <a:effectLst/>
                        </a:rPr>
                        <a:t>Geopard.tech</a:t>
                      </a:r>
                    </a:p>
                  </a:txBody>
                  <a:tcPr marL="60770" marR="60770" marT="30385" marB="30385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effectLst/>
                        </a:rPr>
                        <a:t>N/A</a:t>
                      </a:r>
                    </a:p>
                  </a:txBody>
                  <a:tcPr marL="60769" marR="60769" marT="30384" marB="30384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62863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Botlink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effectLst/>
                          <a:latin typeface="Grandview Display"/>
                        </a:rPr>
                        <a:t>botlink.com</a:t>
                      </a:r>
                      <a:endParaRPr lang="en-US" dirty="0"/>
                    </a:p>
                  </a:txBody>
                  <a:tcPr marL="60770" marR="60770" marT="30385" marB="30385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$120 per month/ $1,200 per year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60769" marR="60769" marT="30384" marB="30384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995697"/>
                  </a:ext>
                </a:extLst>
              </a:tr>
              <a:tr h="55340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Farmonaut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effectLst/>
                          <a:latin typeface="Grandview Display"/>
                        </a:rPr>
                        <a:t>farmonaut.com</a:t>
                      </a:r>
                      <a:endParaRPr lang="en-US" dirty="0"/>
                    </a:p>
                  </a:txBody>
                  <a:tcPr marL="60770" marR="60770" marT="30385" marB="30385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$</a:t>
                      </a:r>
                      <a:r>
                        <a:rPr lang="en-US" sz="11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8 to $25 per acre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60769" marR="60769" marT="30384" marB="30384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97692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OneSoil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onesoil.ai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25"/>
                        </a:lnSpc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69" marR="60769" marT="30384" marB="30384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399408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Granular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effectLst/>
                          <a:latin typeface="Grandview Display"/>
                        </a:rPr>
                        <a:t>corteva.us</a:t>
                      </a:r>
                      <a:endParaRPr lang="en-US" dirty="0"/>
                    </a:p>
                  </a:txBody>
                  <a:tcPr marL="60770" marR="60770" marT="30385" marB="30385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effectLst/>
                        <a:latin typeface="Grandview Display"/>
                      </a:endParaRPr>
                    </a:p>
                  </a:txBody>
                  <a:tcPr marL="60769" marR="60769" marT="30384" marB="30384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763598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Farmvibes.ai</a:t>
                      </a: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1-2</a:t>
                      </a: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4-5</a:t>
                      </a: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5</a:t>
                      </a:r>
                    </a:p>
                  </a:txBody>
                  <a:tcPr marL="60769" marR="60769" marT="30384" marB="30384" anchor="ctr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effectLst/>
                        <a:latin typeface="Grandview Display"/>
                      </a:endParaRPr>
                    </a:p>
                  </a:txBody>
                  <a:tcPr marL="60769" marR="60769" marT="30384" marB="30384">
                    <a:lnL w="9524">
                      <a:solidFill>
                        <a:srgbClr val="FE5A5A"/>
                      </a:solidFill>
                    </a:lnL>
                    <a:lnR w="9524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effectLst/>
                          <a:latin typeface="Grandview Display"/>
                        </a:rPr>
                        <a:t>Free</a:t>
                      </a:r>
                    </a:p>
                  </a:txBody>
                  <a:tcPr marL="60768" marR="60768" marT="30383" marB="30383">
                    <a:lnL w="9524">
                      <a:solidFill>
                        <a:srgbClr val="FE5A5A"/>
                      </a:solidFill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560202"/>
                  </a:ext>
                </a:extLst>
              </a:tr>
              <a:tr h="619284">
                <a:tc gridSpan="10">
                  <a:txBody>
                    <a:bodyPr/>
                    <a:lstStyle/>
                    <a:p>
                      <a:pPr algn="l" rtl="0" fontAlgn="base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Legend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: 1 (Low), 2 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Somewhat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Low), 3 (Moderate),4 (Somewhat High) ,5 (High) </a:t>
                      </a:r>
                    </a:p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endParaRPr lang="en-US" sz="1800" b="1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Grandview Display"/>
                        </a:rPr>
                        <a:t>Note: Higher is better</a:t>
                      </a:r>
                      <a:endParaRPr lang="en-US" dirty="0"/>
                    </a:p>
                  </a:txBody>
                  <a:tcPr marL="60770" marR="60770" marT="30385" marB="30385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445"/>
                        </a:lnSpc>
                        <a:buNone/>
                      </a:pPr>
                      <a:endParaRPr lang="en-US" sz="1800" b="1" i="0" dirty="0">
                        <a:solidFill>
                          <a:srgbClr val="000000"/>
                        </a:solidFill>
                        <a:effectLst/>
                        <a:latin typeface="Grandview Display"/>
                      </a:endParaRPr>
                    </a:p>
                  </a:txBody>
                  <a:tcPr marL="60769" marR="60769" marT="30384" marB="30384" anchor="ctr">
                    <a:lnL w="9525" cap="flat" cmpd="sng" algn="ctr">
                      <a:solidFill>
                        <a:srgbClr val="FE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E5A5A"/>
                      </a:solidFill>
                    </a:lnR>
                    <a:lnT w="9524">
                      <a:solidFill>
                        <a:srgbClr val="FE5A5A"/>
                      </a:solidFill>
                    </a:lnT>
                    <a:lnB w="9524">
                      <a:solidFill>
                        <a:srgbClr val="FE5A5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36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66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1C93-1FE1-DDF8-C72E-63D8F350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19C30-7DF4-7D6F-2BAA-0B051BB27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Human Input</a:t>
            </a:r>
          </a:p>
          <a:p>
            <a:r>
              <a:rPr lang="en-US" b="1" dirty="0"/>
              <a:t>IoT Input</a:t>
            </a:r>
          </a:p>
          <a:p>
            <a:r>
              <a:rPr lang="en-US" b="1" dirty="0"/>
              <a:t>AI Analytics</a:t>
            </a:r>
          </a:p>
          <a:p>
            <a:r>
              <a:rPr lang="en-US" b="1" dirty="0"/>
              <a:t>Drone Image Support</a:t>
            </a:r>
          </a:p>
        </p:txBody>
      </p:sp>
    </p:spTree>
    <p:extLst>
      <p:ext uri="{BB962C8B-B14F-4D97-AF65-F5344CB8AC3E}">
        <p14:creationId xmlns:p14="http://schemas.microsoft.com/office/powerpoint/2010/main" val="195270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C7FF-0625-30C8-4A2D-28ECD82B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465B8-1448-52E9-34D6-570911892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/>
              <a:t>FarmOS</a:t>
            </a:r>
            <a:r>
              <a:rPr lang="en-US" b="1" dirty="0"/>
              <a:t> + FarmVibes.ai + </a:t>
            </a:r>
            <a:r>
              <a:rPr lang="en-US" b="1" dirty="0" err="1"/>
              <a:t>Thingsboard</a:t>
            </a:r>
            <a:r>
              <a:rPr lang="en-US" b="1" dirty="0"/>
              <a:t> CE </a:t>
            </a:r>
            <a:r>
              <a:rPr lang="en-US" dirty="0"/>
              <a:t>(All Open Source, Scalable and Fulfils criteria Above, Strong Community Support)</a:t>
            </a:r>
          </a:p>
          <a:p>
            <a:r>
              <a:rPr lang="en-US" dirty="0"/>
              <a:t>Django + </a:t>
            </a:r>
            <a:r>
              <a:rPr lang="en-US" dirty="0" err="1"/>
              <a:t>MinIO</a:t>
            </a:r>
            <a:r>
              <a:rPr lang="en-US" dirty="0"/>
              <a:t> + PostgreSQL + </a:t>
            </a:r>
            <a:r>
              <a:rPr lang="en-US" dirty="0" err="1"/>
              <a:t>PostGIS</a:t>
            </a:r>
            <a:r>
              <a:rPr lang="en-US" dirty="0"/>
              <a:t> + </a:t>
            </a:r>
            <a:r>
              <a:rPr lang="en-US" dirty="0" err="1"/>
              <a:t>GeoAI</a:t>
            </a:r>
            <a:r>
              <a:rPr lang="en-US" dirty="0"/>
              <a:t> + </a:t>
            </a:r>
            <a:r>
              <a:rPr lang="en-US" dirty="0" err="1"/>
              <a:t>Thingsboard</a:t>
            </a:r>
            <a:r>
              <a:rPr lang="en-US"/>
              <a:t> 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19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F282-654E-01C2-D085-F5B581D9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CFF06-09AB-B46A-8F76-6E462A8AC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Real time Data feed</a:t>
            </a:r>
          </a:p>
          <a:p>
            <a:r>
              <a:rPr lang="en-US" dirty="0"/>
              <a:t>Data correction </a:t>
            </a:r>
          </a:p>
          <a:p>
            <a:r>
              <a:rPr lang="en-US" dirty="0"/>
              <a:t>Real time AI Analytics for Precision Farming</a:t>
            </a:r>
          </a:p>
          <a:p>
            <a:r>
              <a:rPr lang="en-US"/>
              <a:t>Minimal Human Involvement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91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D3D4-88CF-624D-9177-D41480EB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D57ED-A8BB-6266-AB3A-5498527C0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6821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DashVTI</vt:lpstr>
      <vt:lpstr>Configuring an Open-Source AI Model for Real-World Farm Analytics</vt:lpstr>
      <vt:lpstr>Problem Statement</vt:lpstr>
      <vt:lpstr>Research Objective</vt:lpstr>
      <vt:lpstr>Proposed Tools</vt:lpstr>
      <vt:lpstr>Selection Criteria</vt:lpstr>
      <vt:lpstr>Proposed Solution</vt:lpstr>
      <vt:lpstr>Expected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198</cp:revision>
  <dcterms:created xsi:type="dcterms:W3CDTF">2025-09-09T22:09:59Z</dcterms:created>
  <dcterms:modified xsi:type="dcterms:W3CDTF">2025-12-30T12:13:58Z</dcterms:modified>
</cp:coreProperties>
</file>